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3619" y="0"/>
            <a:ext cx="6000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6000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0857" y="0"/>
            <a:ext cx="6000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4476" y="0"/>
            <a:ext cx="6000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18095" y="0"/>
            <a:ext cx="6000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1714" y="0"/>
            <a:ext cx="6000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5333" y="0"/>
            <a:ext cx="6000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371600"/>
            <a:ext cx="12188952" cy="6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743200"/>
            <a:ext cx="12188952" cy="6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114800"/>
            <a:ext cx="12188952" cy="6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486400"/>
            <a:ext cx="12188952" cy="6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ourier New"/>
              </a:rPr>
              <a:t>01 / 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005840"/>
            <a:ext cx="1463040" cy="2560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0058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FF00"/>
                </a:solidFill>
                <a:latin typeface="Courier New"/>
              </a:rPr>
              <a:t>THE 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14173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FFFFF"/>
                </a:solidFill>
                <a:latin typeface="Georgia"/>
              </a:rPr>
              <a:t>Great characters
don't scale
themselves.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160520"/>
            <a:ext cx="457200" cy="38100"/>
          </a:xfrm>
          <a:prstGeom prst="rect">
            <a:avLst/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29768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888888"/>
                </a:solidFill>
                <a:latin typeface="Calibri"/>
              </a:rPr>
              <a:t>IAMS Proactive Health has a genuinely original brand character — the Gut Bacteria.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888888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888888"/>
                </a:solidFill>
                <a:latin typeface="Calibri"/>
              </a:rPr>
              <a:t>But turning that character into a constant stream of social content means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888888"/>
                </a:solidFill>
                <a:latin typeface="Calibri"/>
              </a:rPr>
              <a:t>briefing studios, waiting weeks, and paying for every single execution.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888888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888888"/>
                </a:solidFill>
                <a:latin typeface="Calibri"/>
              </a:rPr>
              <a:t>The volume social demands today makes that model impossible to sustain.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280160"/>
            <a:ext cx="5029200" cy="1417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1280160"/>
            <a:ext cx="54864" cy="1417320"/>
          </a:xfrm>
          <a:prstGeom prst="rect">
            <a:avLst/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1417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Georgia"/>
              </a:rPr>
              <a:t>6–8 wks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ourier New"/>
              </a:rPr>
              <a:t>AVG. STUDIO TURNAROUND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971800"/>
            <a:ext cx="5029200" cy="1417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2971800"/>
            <a:ext cx="54864" cy="1417320"/>
          </a:xfrm>
          <a:prstGeom prst="rect">
            <a:avLst/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3108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Georgia"/>
              </a:rPr>
              <a:t>$12–40K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ourier New"/>
              </a:rPr>
              <a:t>COST PER VIDEO EXECUTION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663440"/>
            <a:ext cx="5029200" cy="1417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4663440"/>
            <a:ext cx="54864" cy="1417320"/>
          </a:xfrm>
          <a:prstGeom prst="rect">
            <a:avLst/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800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Georgia"/>
              </a:rPr>
              <a:t>3–5×/wk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349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ourier New"/>
              </a:rPr>
              <a:t>CONTENT CADENCE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88952" cy="40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  <a:latin typeface="Courier New"/>
              </a:rPr>
              <a:t>IAMS PROACTIVE HEALTH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ourier New"/>
              </a:rPr>
              <a:t>02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463040" cy="2560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FF00"/>
                </a:solidFill>
                <a:latin typeface="Courier New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0" i="0">
                <a:solidFill>
                  <a:srgbClr val="FFFFFF"/>
                </a:solidFill>
                <a:latin typeface="Georgia"/>
              </a:rPr>
              <a:t>The Insiders
Factory.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566160"/>
            <a:ext cx="457200" cy="38100"/>
          </a:xfrm>
          <a:prstGeom prst="rect">
            <a:avLst/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7490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 purpose-built content studio for IAMS — in a browser tab.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2976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888888"/>
                </a:solidFill>
                <a:latin typeface="Calibri"/>
              </a:rPr>
              <a:t>Any brand or agency team member can generate a finished,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888888"/>
                </a:solidFill>
                <a:latin typeface="Calibri"/>
              </a:rPr>
              <a:t>voice-matched, lip-synced character video in under ten minutes.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888888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888888"/>
                </a:solidFill>
                <a:latin typeface="Calibri"/>
              </a:rPr>
              <a:t>No production brief. No studio. No waiting.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888888"/>
                </a:solidFill>
                <a:latin typeface="Calibri"/>
              </a:rPr>
              <a:t>Just a direction, a voice line, and a format.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005840"/>
            <a:ext cx="2651760" cy="2331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005840"/>
            <a:ext cx="2651760" cy="18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1155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FF00"/>
                </a:solidFill>
                <a:latin typeface="Calibri"/>
              </a:rPr>
              <a:t>On-brand by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481328"/>
            <a:ext cx="2331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888888"/>
                </a:solidFill>
                <a:latin typeface="Calibri"/>
              </a:rPr>
              <a:t>The character, voice, and visual brief are locked in.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888888"/>
                </a:solidFill>
                <a:latin typeface="Calibri"/>
              </a:rPr>
              <a:t>Every output is brand-safe before it renders.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005840"/>
            <a:ext cx="2651760" cy="2331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81160" y="1005840"/>
            <a:ext cx="2651760" cy="18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11155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FF00"/>
                </a:solidFill>
                <a:latin typeface="Calibri"/>
              </a:rPr>
              <a:t>Voice + lip-sync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5752" y="1481328"/>
            <a:ext cx="2331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888888"/>
                </a:solidFill>
                <a:latin typeface="Calibri"/>
              </a:rPr>
              <a:t>The character speaks your chosen line.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888888"/>
                </a:solidFill>
                <a:latin typeface="Calibri"/>
              </a:rPr>
              <a:t>Mouth movement is frame-accurate, every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657600"/>
            <a:ext cx="2651760" cy="2331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657600"/>
            <a:ext cx="2651760" cy="18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376732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FF00"/>
                </a:solidFill>
                <a:latin typeface="Calibri"/>
              </a:rPr>
              <a:t>Any format, instantly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133088"/>
            <a:ext cx="2331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888888"/>
                </a:solidFill>
                <a:latin typeface="Calibri"/>
              </a:rPr>
              <a:t>9:16 for Stories. 1:1 for Feed. 16:9 for YouTube.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888888"/>
                </a:solidFill>
                <a:latin typeface="Calibri"/>
              </a:rPr>
              <a:t>Switch with a single click.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3657600"/>
            <a:ext cx="2651760" cy="2331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81160" y="3657600"/>
            <a:ext cx="2651760" cy="18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45752" y="376732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FF00"/>
                </a:solidFill>
                <a:latin typeface="Calibri"/>
              </a:rPr>
              <a:t>Zero technical skill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4133088"/>
            <a:ext cx="2331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888888"/>
                </a:solidFill>
                <a:latin typeface="Calibri"/>
              </a:rPr>
              <a:t>Choose a mood preset or write a custom direction.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888888"/>
                </a:solidFill>
                <a:latin typeface="Calibri"/>
              </a:rPr>
              <a:t>Generate. Download. Post.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88952" cy="40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  <a:latin typeface="Courier New"/>
              </a:rPr>
              <a:t>IAMS PROACTIVE HEALTH  ·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ourier New"/>
              </a:rPr>
              <a:t>03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463040" cy="2560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FF00"/>
                </a:solidFill>
                <a:latin typeface="Courier New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  <a:latin typeface="Georgia"/>
              </a:rPr>
              <a:t>Brief to broadcast
in minutes.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200400"/>
            <a:ext cx="457200" cy="38100"/>
          </a:xfrm>
          <a:prstGeom prst="rect">
            <a:avLst/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4015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Calibri"/>
              </a:rPr>
              <a:t>A four-step automated pipeline — no human handoffs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749039"/>
            <a:ext cx="256032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749039"/>
            <a:ext cx="2560320" cy="14000"/>
          </a:xfrm>
          <a:prstGeom prst="rect">
            <a:avLst/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8404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0A0A"/>
                </a:solidFill>
                <a:latin typeface="Courier New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800599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44444"/>
                </a:solidFill>
                <a:latin typeface="Courier New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2452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0A0A"/>
                </a:solidFill>
                <a:latin typeface="Courier New"/>
              </a:rPr>
              <a:t>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709159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Choose a mood preset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or write a custom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direction for the scene.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3749039"/>
            <a:ext cx="256032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54680" y="3749039"/>
            <a:ext cx="2560320" cy="14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38404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FF00"/>
                </a:solidFill>
                <a:latin typeface="Courier New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800599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44444"/>
                </a:solidFill>
                <a:latin typeface="Courier New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22452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FF00"/>
                </a:solidFill>
                <a:latin typeface="Courier New"/>
              </a:rPr>
              <a:t>VOICE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709159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888888"/>
                </a:solidFill>
                <a:latin typeface="Calibri"/>
              </a:rPr>
              <a:t>Select a brand-approved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888888"/>
                </a:solidFill>
                <a:latin typeface="Calibri"/>
              </a:rPr>
              <a:t>script line. AI generates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888888"/>
                </a:solidFill>
                <a:latin typeface="Calibri"/>
              </a:rPr>
              <a:t>a matched voice track.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749039"/>
            <a:ext cx="256032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3749039"/>
            <a:ext cx="2560320" cy="14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38404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FF00"/>
                </a:solidFill>
                <a:latin typeface="Courier New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4800599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44444"/>
                </a:solidFill>
                <a:latin typeface="Courier New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22452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FF00"/>
                </a:solidFill>
                <a:latin typeface="Courier New"/>
              </a:rPr>
              <a:t>VIDEO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709159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888888"/>
                </a:solidFill>
                <a:latin typeface="Calibri"/>
              </a:rPr>
              <a:t>The character is rendered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888888"/>
                </a:solidFill>
                <a:latin typeface="Calibri"/>
              </a:rPr>
              <a:t>in motion — bouncy,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888888"/>
                </a:solidFill>
                <a:latin typeface="Calibri"/>
              </a:rPr>
              <a:t>expressive, on-brand.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15400" y="3749039"/>
            <a:ext cx="256032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5400" y="3749039"/>
            <a:ext cx="2560320" cy="14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38404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FF00"/>
                </a:solidFill>
                <a:latin typeface="Courier New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22452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FF00"/>
                </a:solidFill>
                <a:latin typeface="Courier New"/>
              </a:rPr>
              <a:t>LIP-SYNC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709159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888888"/>
                </a:solidFill>
                <a:latin typeface="Calibri"/>
              </a:rPr>
              <a:t>Audio is fused to the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888888"/>
                </a:solidFill>
                <a:latin typeface="Calibri"/>
              </a:rPr>
              <a:t>video frame-by-frame.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888888"/>
                </a:solidFill>
                <a:latin typeface="Calibri"/>
              </a:rPr>
              <a:t>Ready to download.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88952" cy="40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  <a:latin typeface="Courier New"/>
              </a:rPr>
              <a:t>IAMS PROACTIVE HEALTH  ·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ourier New"/>
              </a:rPr>
              <a:t>04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463040" cy="2560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FF00"/>
                </a:solidFill>
                <a:latin typeface="Courier New"/>
              </a:rPr>
              <a:t>THE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  <a:latin typeface="Georgia"/>
              </a:rPr>
              <a:t>Always-on content.
Always brand-safe.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337560"/>
            <a:ext cx="457200" cy="38100"/>
          </a:xfrm>
          <a:prstGeom prst="rect">
            <a:avLst/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520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Calibri"/>
              </a:rPr>
              <a:t>The Insiders Factory changes the economics of character-led content.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069080"/>
            <a:ext cx="1188720" cy="347472"/>
          </a:xfrm>
          <a:prstGeom prst="rect">
            <a:avLst/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1056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0A0A"/>
                </a:solidFill>
                <a:latin typeface="Courier New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4069080"/>
            <a:ext cx="1645920" cy="347472"/>
          </a:xfrm>
          <a:prstGeom prst="rect">
            <a:avLst/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1056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0A0A"/>
                </a:solidFill>
                <a:latin typeface="Courier New"/>
              </a:rPr>
              <a:t>TRADITIONAL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4069080"/>
            <a:ext cx="1920240" cy="347472"/>
          </a:xfrm>
          <a:prstGeom prst="rect">
            <a:avLst/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41056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0A0A"/>
                </a:solidFill>
                <a:latin typeface="Courier New"/>
              </a:rPr>
              <a:t>INSIDERS FACTORY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16552"/>
            <a:ext cx="118872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4531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ourier New"/>
              </a:rPr>
              <a:t>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416552"/>
            <a:ext cx="164592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4531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ourier New"/>
              </a:rPr>
              <a:t>6 – 8 weeks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4416552"/>
            <a:ext cx="192024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44531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FF00"/>
                </a:solidFill>
                <a:latin typeface="Courier New"/>
              </a:rPr>
              <a:t>&lt; 10 minutes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764024"/>
            <a:ext cx="118872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8006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ourier New"/>
              </a:rPr>
              <a:t>Cost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4764024"/>
            <a:ext cx="164592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48006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ourier New"/>
              </a:rPr>
              <a:t>$12K – $40K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4764024"/>
            <a:ext cx="192024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48006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FF00"/>
                </a:solidFill>
                <a:latin typeface="Courier New"/>
              </a:rPr>
              <a:t>Negligible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111496"/>
            <a:ext cx="118872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1480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ourier New"/>
              </a:rPr>
              <a:t>Consistency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5111496"/>
            <a:ext cx="164592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51480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ourier New"/>
              </a:rPr>
              <a:t>Variable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5111496"/>
            <a:ext cx="192024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51480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FF00"/>
                </a:solidFill>
                <a:latin typeface="Courier New"/>
              </a:rPr>
              <a:t>Guaranteed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458968"/>
            <a:ext cx="118872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4955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ourier New"/>
              </a:rPr>
              <a:t>Volume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63040" y="5458968"/>
            <a:ext cx="164592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549554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ourier New"/>
              </a:rPr>
              <a:t>1 – 2 / month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5458968"/>
            <a:ext cx="1920240" cy="3474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0" y="549554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FF00"/>
                </a:solidFill>
                <a:latin typeface="Courier New"/>
              </a:rPr>
              <a:t>Unlimited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806440"/>
            <a:ext cx="118872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8430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ourier New"/>
              </a:rPr>
              <a:t>Skill req.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63040" y="5806440"/>
            <a:ext cx="164592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54480" y="584301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ourier New"/>
              </a:rPr>
              <a:t>Production co.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08960" y="5806440"/>
            <a:ext cx="192024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0" y="58430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FF00"/>
                </a:solidFill>
                <a:latin typeface="Courier New"/>
              </a:rPr>
              <a:t>None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1005840"/>
            <a:ext cx="5394960" cy="5577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1005840"/>
            <a:ext cx="5394960" cy="12000"/>
          </a:xfrm>
          <a:prstGeom prst="rect">
            <a:avLst/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0A0A"/>
                </a:solidFill>
                <a:latin typeface="Courier New"/>
              </a:rPr>
              <a:t>What this unlocks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1691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 A living, breathing brand character that shows up every single week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2441448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Calibri"/>
              </a:rPr>
              <a:t>→  Campaign bursts that can spin up overnight, not over months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3191256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 Consistent character voice and visual identity at any volume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394106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Calibri"/>
              </a:rPr>
              <a:t>→  Brand and agency teams empowered to move at platform speed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469087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 A reusable content engine — build it once, run it indefinitely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5806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AAFF00"/>
                </a:solidFill>
                <a:latin typeface="Georgia"/>
              </a:rPr>
              <a:t>The Insiders Factory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6199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Courier New"/>
              </a:rPr>
              <a:t>Built by adam&amp;eveTBWA for IAMS Proactive Health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65392"/>
            <a:ext cx="12188952" cy="40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  <a:latin typeface="Courier New"/>
              </a:rPr>
              <a:t>IAMS PROACTIVE HEALTH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